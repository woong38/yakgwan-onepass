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2027년 부서별 사업계획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부서명을 기재한다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□ 1. '26년 주요 성과 및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맑은 고딕"/>
              </a:rPr>
              <a:t>○ 계량 성과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1548000"/>
          <a:ext cx="1098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1800000"/>
                <a:gridCol w="2520000"/>
                <a:gridCol w="1440000"/>
                <a:gridCol w="2340000"/>
              </a:tblGrid>
              <a:tr h="288000">
                <a:tc>
                  <a:txBody>
                    <a:bodyPr/>
                    <a:lstStyle/>
                    <a:p>
                      <a:r>
                        <a:rPr sz="1200" b="1"/>
                        <a:t>지표명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'26년 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'26년 실적(2026.9.30. 기준)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달성률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비고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/>
                        <a:t>(예) 한도 준수율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2592000"/>
            <a:ext cx="10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맑은 고딕"/>
              </a:rPr>
              <a:t>○ 비계량 성과</a:t>
            </a:r>
          </a:p>
          <a:p>
            <a:r>
              <a:rPr sz="1400" b="0">
                <a:latin typeface="맑은 고딕"/>
              </a:rPr>
              <a:t>- (작성) 주요 추진 실적을 기재한다</a:t>
            </a:r>
          </a:p>
          <a:p>
            <a:r>
              <a:rPr sz="1600" b="1">
                <a:latin typeface="맑은 고딕"/>
              </a:rPr>
              <a:t>○ 시사점</a:t>
            </a:r>
          </a:p>
          <a:p>
            <a:r>
              <a:rPr sz="1400" b="0">
                <a:latin typeface="맑은 고딕"/>
              </a:rPr>
              <a:t>- (작성) 성과 분석에 따른 시사점을 기재한다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□ 2. '27년 주요 사업 계획 및 추진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맑은 고딕"/>
              </a:rPr>
              <a:t>○ 추진 방향</a:t>
            </a:r>
          </a:p>
          <a:p>
            <a:r>
              <a:rPr sz="1400" b="0">
                <a:latin typeface="맑은 고딕"/>
              </a:rPr>
              <a:t>- (작성) '27년 부서 추진 방향을 기재한다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015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맑은 고딕"/>
              </a:rPr>
              <a:t>○ 중점 추진과제 및 추진 계획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2412000"/>
          <a:ext cx="1098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2160000"/>
                <a:gridCol w="1800000"/>
                <a:gridCol w="1260000"/>
              </a:tblGrid>
              <a:tr h="288000">
                <a:tc>
                  <a:txBody>
                    <a:bodyPr/>
                    <a:lstStyle/>
                    <a:p>
                      <a:r>
                        <a:rPr sz="1200" b="1"/>
                        <a:t>과제명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주요 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목표(KPI)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추진 일정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예산(백만원)</a:t>
                      </a:r>
                    </a:p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>
                      <a:r>
                        <a:rPr sz="1200" b="0"/>
                        <a:t>(예) 야간 한도 신설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88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latin typeface="맑은 고딕"/>
              </a:rPr>
              <a:t>※ 예산은 백만원 단위, 일정은 연·월까지 기재한다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